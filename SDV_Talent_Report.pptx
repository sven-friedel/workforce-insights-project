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62" r:id="rId4"/>
    <p:sldId id="266" r:id="rId5"/>
    <p:sldId id="259" r:id="rId6"/>
    <p:sldId id="268" r:id="rId7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1E0AAE75-4BE9-4E48-8699-1123DDB3BF73}">
          <p14:sldIdLst>
            <p14:sldId id="257"/>
          </p14:sldIdLst>
        </p14:section>
        <p14:section name="Hiring" id="{E8BF9F55-3AF6-48F6-902D-04577C28E098}">
          <p14:sldIdLst>
            <p14:sldId id="265"/>
          </p14:sldIdLst>
        </p14:section>
        <p14:section name="Attrition" id="{3566FB13-DF3B-4DB3-BFF5-E66937D1158B}">
          <p14:sldIdLst>
            <p14:sldId id="262"/>
            <p14:sldId id="266"/>
          </p14:sldIdLst>
        </p14:section>
        <p14:section name="Skills" id="{142BCB5E-836B-47F9-A965-2B042816D4A7}">
          <p14:sldIdLst>
            <p14:sldId id="259"/>
          </p14:sldIdLst>
        </p14:section>
        <p14:section name="Appendix" id="{5C388020-8A5C-41F8-92C0-0DD101BBAE9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0066CC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64" autoAdjust="0"/>
  </p:normalViewPr>
  <p:slideViewPr>
    <p:cSldViewPr snapToGrid="0" snapToObjects="1">
      <p:cViewPr varScale="1">
        <p:scale>
          <a:sx n="139" d="100"/>
          <a:sy n="139" d="100"/>
        </p:scale>
        <p:origin x="804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venf\Desktop\Portfolio\workforce-insights-project\Automotive_HR_Software_Talent_Dataset_v3_Enhanc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venf\Desktop\Portfolio\workforce-insights-project\Automotive_HR_Software_Talent_Dataset_v3_Enhanc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venf\Desktop\Portfolio\workforce-insights-project\Automotive_HR_Software_Talent_Dataset_v3_Enhanc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venf\Desktop\Portfolio\workforce-insights-project\Automotive_HR_Software_Talent_Dataset_v3_Enhanc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venf\Desktop\Portfolio\workforce-insights-project\Automotive_HR_Software_Talent_Dataset_v3_Enhance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[Automotive_HR_Software_Talent_Dataset_v3_Enhanced.xlsx]Key_Question _4!PivotTable4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Hiring Trend</a:t>
            </a:r>
            <a:r>
              <a:rPr lang="en-US" b="1" dirty="0"/>
              <a:t> </a:t>
            </a:r>
            <a:r>
              <a:rPr lang="en-US" sz="1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(2018-2025H1)</a:t>
            </a:r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c:rich>
      </c:tx>
      <c:layout>
        <c:manualLayout>
          <c:xMode val="edge"/>
          <c:yMode val="edge"/>
          <c:x val="8.2246953384581087E-2"/>
          <c:y val="5.2999478351591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7046211951902303E-2"/>
              <c:y val="-6.944444444444446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0575141098302238E-2"/>
              <c:y val="5.083526900859595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7046211951902303E-2"/>
              <c:y val="-6.944444444444446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0575141098302238E-2"/>
              <c:y val="5.083526900859595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7046211951902303E-2"/>
              <c:y val="-6.944444444444446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3.0575141098302238E-2"/>
              <c:y val="5.083526900859595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1299718439813706E-2"/>
          <c:y val="0.18097222222222226"/>
          <c:w val="0.8873534868316536"/>
          <c:h val="0.72088764946048411"/>
        </c:manualLayout>
      </c:layout>
      <c:lineChart>
        <c:grouping val="standard"/>
        <c:varyColors val="0"/>
        <c:ser>
          <c:idx val="0"/>
          <c:order val="0"/>
          <c:tx>
            <c:strRef>
              <c:f>'Key_Question _4'!$B$68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dPt>
            <c:idx val="4"/>
            <c:marker>
              <c:symbol val="none"/>
            </c:marker>
            <c:bubble3D val="0"/>
            <c:spPr>
              <a:ln w="28575" cap="rnd">
                <a:solidFill>
                  <a:schemeClr val="bg1">
                    <a:lumMod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3E-49D5-94A2-61083230509B}"/>
              </c:ext>
            </c:extLst>
          </c:dPt>
          <c:dPt>
            <c:idx val="5"/>
            <c:marker>
              <c:symbol val="none"/>
            </c:marker>
            <c:bubble3D val="0"/>
            <c:spPr>
              <a:ln w="28575" cap="rnd">
                <a:solidFill>
                  <a:srgbClr val="0066CC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3E-49D5-94A2-61083230509B}"/>
              </c:ext>
            </c:extLst>
          </c:dPt>
          <c:dLbls>
            <c:dLbl>
              <c:idx val="4"/>
              <c:layout>
                <c:manualLayout>
                  <c:x val="-3.7046211951902303E-2"/>
                  <c:y val="-6.944444444444446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3E-49D5-94A2-61083230509B}"/>
                </c:ext>
              </c:extLst>
            </c:dLbl>
            <c:dLbl>
              <c:idx val="5"/>
              <c:layout>
                <c:manualLayout>
                  <c:x val="-3.0575141098302238E-2"/>
                  <c:y val="5.083526900859595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3E-49D5-94A2-6108323050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'Key_Question _4'!$A$69:$A$77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'Key_Question _4'!$B$69:$B$77</c:f>
              <c:numCache>
                <c:formatCode>General</c:formatCode>
                <c:ptCount val="8"/>
                <c:pt idx="0">
                  <c:v>59</c:v>
                </c:pt>
                <c:pt idx="1">
                  <c:v>71</c:v>
                </c:pt>
                <c:pt idx="2">
                  <c:v>82</c:v>
                </c:pt>
                <c:pt idx="3">
                  <c:v>98</c:v>
                </c:pt>
                <c:pt idx="4">
                  <c:v>103</c:v>
                </c:pt>
                <c:pt idx="5">
                  <c:v>23</c:v>
                </c:pt>
                <c:pt idx="6">
                  <c:v>48</c:v>
                </c:pt>
                <c:pt idx="7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23E-49D5-94A2-610832305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14374160"/>
        <c:axId val="714371280"/>
      </c:lineChart>
      <c:catAx>
        <c:axId val="714374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371280"/>
        <c:crosses val="autoZero"/>
        <c:auto val="1"/>
        <c:lblAlgn val="ctr"/>
        <c:lblOffset val="100"/>
        <c:noMultiLvlLbl val="0"/>
      </c:catAx>
      <c:valAx>
        <c:axId val="71437128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437416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[Automotive_HR_Software_Talent_Dataset_v3_Enhanced.xlsx]Key_Question _4!PivotTable8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Hiring by Channel</a:t>
            </a:r>
            <a:r>
              <a:rPr lang="en-US" b="0" baseline="0" dirty="0"/>
              <a:t> </a:t>
            </a:r>
            <a:r>
              <a:rPr lang="en-US" sz="1200" b="0" i="0" u="none" strike="noStrike" kern="12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(2018-2025H1)</a:t>
            </a:r>
          </a:p>
        </c:rich>
      </c:tx>
      <c:layout>
        <c:manualLayout>
          <c:xMode val="edge"/>
          <c:yMode val="edge"/>
          <c:x val="7.839345310538684E-2"/>
          <c:y val="3.95097400873547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'Key_Question _4'!$B$128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6C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66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889-40E5-BEF8-008755560ACE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C6EF-4BEA-A14A-4D6F4FB7919D}"/>
              </c:ext>
            </c:extLst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6EF-4BEA-A14A-4D6F4FB7919D}"/>
              </c:ext>
            </c:extLst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6EF-4BEA-A14A-4D6F4FB7919D}"/>
              </c:ext>
            </c:extLst>
          </c:dPt>
          <c:cat>
            <c:strRef>
              <c:f>'Key_Question _4'!$A$129:$A$133</c:f>
              <c:strCache>
                <c:ptCount val="4"/>
                <c:pt idx="0">
                  <c:v>Career Fair</c:v>
                </c:pt>
                <c:pt idx="1">
                  <c:v>LinkedIn</c:v>
                </c:pt>
                <c:pt idx="2">
                  <c:v>Recruiter</c:v>
                </c:pt>
                <c:pt idx="3">
                  <c:v>Referral</c:v>
                </c:pt>
              </c:strCache>
            </c:strRef>
          </c:cat>
          <c:val>
            <c:numRef>
              <c:f>'Key_Question _4'!$B$129:$B$133</c:f>
              <c:numCache>
                <c:formatCode>General</c:formatCode>
                <c:ptCount val="4"/>
                <c:pt idx="0">
                  <c:v>70</c:v>
                </c:pt>
                <c:pt idx="1">
                  <c:v>194</c:v>
                </c:pt>
                <c:pt idx="2">
                  <c:v>135</c:v>
                </c:pt>
                <c:pt idx="3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96-4629-9344-86566CF04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7161823"/>
        <c:axId val="807161343"/>
      </c:barChart>
      <c:catAx>
        <c:axId val="807161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161343"/>
        <c:crosses val="autoZero"/>
        <c:auto val="1"/>
        <c:lblAlgn val="ctr"/>
        <c:lblOffset val="100"/>
        <c:noMultiLvlLbl val="0"/>
      </c:catAx>
      <c:valAx>
        <c:axId val="80716134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16182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0066CC"/>
                </a:solidFill>
              </a:rPr>
              <a:t>Hiring</a:t>
            </a:r>
            <a:r>
              <a:rPr lang="en-US" dirty="0"/>
              <a:t> vs. </a:t>
            </a:r>
            <a:r>
              <a:rPr lang="en-US" dirty="0">
                <a:solidFill>
                  <a:srgbClr val="C0504D"/>
                </a:solidFill>
              </a:rPr>
              <a:t>Attrition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0066CC"/>
            </a:solidFill>
            <a:ln>
              <a:noFill/>
            </a:ln>
            <a:effectLst/>
          </c:spPr>
          <c:invertIfNegative val="0"/>
          <c:cat>
            <c:strRef>
              <c:f>'Key_Question _1'!$A$286:$A$293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(H1) 2025</c:v>
                </c:pt>
              </c:strCache>
            </c:strRef>
          </c:cat>
          <c:val>
            <c:numRef>
              <c:f>'Key_Question _1'!$B$286:$B$293</c:f>
              <c:numCache>
                <c:formatCode>General</c:formatCode>
                <c:ptCount val="8"/>
                <c:pt idx="0">
                  <c:v>59</c:v>
                </c:pt>
                <c:pt idx="1">
                  <c:v>71</c:v>
                </c:pt>
                <c:pt idx="2">
                  <c:v>82</c:v>
                </c:pt>
                <c:pt idx="3">
                  <c:v>98</c:v>
                </c:pt>
                <c:pt idx="4">
                  <c:v>103</c:v>
                </c:pt>
                <c:pt idx="5">
                  <c:v>23</c:v>
                </c:pt>
                <c:pt idx="6">
                  <c:v>48</c:v>
                </c:pt>
                <c:pt idx="7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63-408F-9B4C-98B08FDBAA6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rgbClr val="C0504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563-408F-9B4C-98B08FDBAA60}"/>
              </c:ext>
            </c:extLst>
          </c:dPt>
          <c:cat>
            <c:strRef>
              <c:f>'Key_Question _1'!$A$286:$A$293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(H1) 2025</c:v>
                </c:pt>
              </c:strCache>
            </c:strRef>
          </c:cat>
          <c:val>
            <c:numRef>
              <c:f>'Key_Question _1'!$C$286:$C$293</c:f>
              <c:numCache>
                <c:formatCode>General</c:formatCode>
                <c:ptCount val="8"/>
                <c:pt idx="0">
                  <c:v>2</c:v>
                </c:pt>
                <c:pt idx="1">
                  <c:v>6</c:v>
                </c:pt>
                <c:pt idx="2">
                  <c:v>8</c:v>
                </c:pt>
                <c:pt idx="3">
                  <c:v>14</c:v>
                </c:pt>
                <c:pt idx="4">
                  <c:v>18</c:v>
                </c:pt>
                <c:pt idx="5">
                  <c:v>27</c:v>
                </c:pt>
                <c:pt idx="6">
                  <c:v>28</c:v>
                </c:pt>
                <c:pt idx="7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563-408F-9B4C-98B08FDBA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01565279"/>
        <c:axId val="1201568639"/>
      </c:barChart>
      <c:catAx>
        <c:axId val="1201565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1568639"/>
        <c:crosses val="autoZero"/>
        <c:auto val="1"/>
        <c:lblAlgn val="ctr"/>
        <c:lblOffset val="100"/>
        <c:tickLblSkip val="1"/>
        <c:noMultiLvlLbl val="0"/>
      </c:catAx>
      <c:valAx>
        <c:axId val="120156863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 dirty="0"/>
                  <a:t>Headcount</a:t>
                </a:r>
              </a:p>
            </c:rich>
          </c:tx>
          <c:layout>
            <c:manualLayout>
              <c:xMode val="edge"/>
              <c:yMode val="edge"/>
              <c:x val="2.274520779898741E-3"/>
              <c:y val="7.80453820043583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1565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[Automotive_HR_Software_Talent_Dataset_v3_Enhanced.xlsx]Key_Question _1!PivotTable19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Attrition by</a:t>
            </a:r>
            <a:r>
              <a:rPr lang="en-US" baseline="0" dirty="0"/>
              <a:t> work arrangement</a:t>
            </a:r>
            <a:endParaRPr lang="en-US" dirty="0"/>
          </a:p>
        </c:rich>
      </c:tx>
      <c:layout>
        <c:manualLayout>
          <c:xMode val="edge"/>
          <c:yMode val="edge"/>
          <c:x val="0.3757777777777777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'Key_Question _1'!$B$95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66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798-4D26-88E0-56C8C9CD9559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466-4FCE-AFC0-49B459DAAC68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466-4FCE-AFC0-49B459DAAC68}"/>
              </c:ext>
            </c:extLst>
          </c:dPt>
          <c:cat>
            <c:strRef>
              <c:f>'Key_Question _1'!$A$96:$A$99</c:f>
              <c:strCache>
                <c:ptCount val="3"/>
                <c:pt idx="0">
                  <c:v>Hybrid</c:v>
                </c:pt>
                <c:pt idx="1">
                  <c:v>On-site</c:v>
                </c:pt>
                <c:pt idx="2">
                  <c:v>Remote</c:v>
                </c:pt>
              </c:strCache>
            </c:strRef>
          </c:cat>
          <c:val>
            <c:numRef>
              <c:f>'Key_Question _1'!$B$96:$B$99</c:f>
              <c:numCache>
                <c:formatCode>General</c:formatCode>
                <c:ptCount val="3"/>
                <c:pt idx="0">
                  <c:v>23</c:v>
                </c:pt>
                <c:pt idx="1">
                  <c:v>65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66-4FCE-AFC0-49B459DAAC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9172704"/>
        <c:axId val="779165024"/>
      </c:barChart>
      <c:catAx>
        <c:axId val="77917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9165024"/>
        <c:crosses val="autoZero"/>
        <c:auto val="1"/>
        <c:lblAlgn val="ctr"/>
        <c:lblOffset val="100"/>
        <c:noMultiLvlLbl val="0"/>
      </c:catAx>
      <c:valAx>
        <c:axId val="77916502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Headcount </a:t>
                </a:r>
              </a:p>
            </c:rich>
          </c:tx>
          <c:layout>
            <c:manualLayout>
              <c:xMode val="edge"/>
              <c:yMode val="edge"/>
              <c:x val="0.11666666666666667"/>
              <c:y val="5.070683872849233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91727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[Automotive_HR_Software_Talent_Dataset_v3_Enhanced.xlsx]Key_Question _1!PivotTable2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Training Status</a:t>
            </a:r>
          </a:p>
        </c:rich>
      </c:tx>
      <c:layout>
        <c:manualLayout>
          <c:xMode val="edge"/>
          <c:yMode val="edge"/>
          <c:x val="0.49792547804914078"/>
          <c:y val="2.561254567420336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rgbClr val="4F81BD"/>
          </a:solidFill>
          <a:ln>
            <a:noFill/>
          </a:ln>
          <a:effectLst/>
        </c:spPr>
      </c:pivotFmt>
      <c:pivotFmt>
        <c:idx val="3"/>
        <c:spPr>
          <a:solidFill>
            <a:srgbClr val="4F81BD"/>
          </a:solidFill>
          <a:ln>
            <a:noFill/>
          </a:ln>
          <a:effectLst/>
        </c:spPr>
      </c:pivotFmt>
      <c:pivotFmt>
        <c:idx val="4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4F81BD"/>
          </a:solidFill>
          <a:ln>
            <a:noFill/>
          </a:ln>
          <a:effectLst/>
        </c:spPr>
      </c:pivotFmt>
      <c:pivotFmt>
        <c:idx val="6"/>
        <c:spPr>
          <a:solidFill>
            <a:srgbClr val="4F81BD"/>
          </a:solidFill>
          <a:ln>
            <a:noFill/>
          </a:ln>
          <a:effectLst/>
        </c:spPr>
      </c:pivotFmt>
      <c:pivotFmt>
        <c:idx val="7"/>
        <c:spPr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4F81BD"/>
          </a:solidFill>
          <a:ln>
            <a:noFill/>
          </a:ln>
          <a:effectLst/>
        </c:spPr>
      </c:pivotFmt>
      <c:pivotFmt>
        <c:idx val="9"/>
        <c:spPr>
          <a:solidFill>
            <a:srgbClr val="4F81BD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'Key_Question _1'!$B$307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66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29-4C96-9788-BFD2D6CA100D}"/>
              </c:ext>
            </c:extLst>
          </c:dPt>
          <c:dPt>
            <c:idx val="1"/>
            <c:invertIfNegative val="0"/>
            <c:bubble3D val="0"/>
            <c:spPr>
              <a:solidFill>
                <a:srgbClr val="0066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29-4C96-9788-BFD2D6CA100D}"/>
              </c:ext>
            </c:extLst>
          </c:dPt>
          <c:cat>
            <c:strRef>
              <c:f>'Key_Question _1'!$A$308:$A$311</c:f>
              <c:strCache>
                <c:ptCount val="3"/>
                <c:pt idx="0">
                  <c:v>Completed</c:v>
                </c:pt>
                <c:pt idx="1">
                  <c:v>In Progress</c:v>
                </c:pt>
                <c:pt idx="2">
                  <c:v>Not Started</c:v>
                </c:pt>
              </c:strCache>
            </c:strRef>
          </c:cat>
          <c:val>
            <c:numRef>
              <c:f>'Key_Question _1'!$B$308:$B$311</c:f>
              <c:numCache>
                <c:formatCode>General</c:formatCode>
                <c:ptCount val="3"/>
                <c:pt idx="0">
                  <c:v>111</c:v>
                </c:pt>
                <c:pt idx="1">
                  <c:v>130</c:v>
                </c:pt>
                <c:pt idx="2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29-4C96-9788-BFD2D6CA10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3085839"/>
        <c:axId val="793069999"/>
      </c:barChart>
      <c:catAx>
        <c:axId val="793085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3069999"/>
        <c:crosses val="autoZero"/>
        <c:auto val="1"/>
        <c:lblAlgn val="ctr"/>
        <c:lblOffset val="100"/>
        <c:noMultiLvlLbl val="0"/>
      </c:catAx>
      <c:valAx>
        <c:axId val="7930699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Headcount</a:t>
                </a:r>
              </a:p>
            </c:rich>
          </c:tx>
          <c:layout>
            <c:manualLayout>
              <c:xMode val="edge"/>
              <c:yMode val="edge"/>
              <c:x val="0.12766625131064421"/>
              <c:y val="4.6224512360578465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308583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6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8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48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063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8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8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3" y="204795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83" indent="0">
              <a:buNone/>
              <a:defRPr sz="900"/>
            </a:lvl2pPr>
            <a:lvl3pPr marL="685766" indent="0">
              <a:buNone/>
              <a:defRPr sz="751"/>
            </a:lvl3pPr>
            <a:lvl4pPr marL="1028648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3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83" indent="0">
              <a:buNone/>
              <a:defRPr sz="2100"/>
            </a:lvl2pPr>
            <a:lvl3pPr marL="685766" indent="0">
              <a:buNone/>
              <a:defRPr sz="1800"/>
            </a:lvl3pPr>
            <a:lvl4pPr marL="1028648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3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9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83" indent="0">
              <a:buNone/>
              <a:defRPr sz="900"/>
            </a:lvl2pPr>
            <a:lvl3pPr marL="685766" indent="0">
              <a:buNone/>
              <a:defRPr sz="751"/>
            </a:lvl3pPr>
            <a:lvl4pPr marL="1028648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3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883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62" indent="-257162" algn="l" defTabSz="342883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l" defTabSz="342883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342883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342883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342883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342883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342883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342883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342883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3" algn="l" defTabSz="3428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3428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8" algn="l" defTabSz="3428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3428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3428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3428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3428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3" algn="l" defTabSz="3428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svenfriedel@outlook.com" TargetMode="External"/><Relationship Id="rId2" Type="http://schemas.openxmlformats.org/officeDocument/2006/relationships/hyperlink" Target="https://github.com/sven-friedel/workforce-insights-project/blob/main/Automotive_HR_Software_Talent_Dataset_v3_Enhanced.xlsx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C5502-99CD-4BD7-FC17-9B840EC3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95" y="205983"/>
            <a:ext cx="8536020" cy="619213"/>
          </a:xfrm>
        </p:spPr>
        <p:txBody>
          <a:bodyPr>
            <a:noAutofit/>
          </a:bodyPr>
          <a:lstStyle/>
          <a:p>
            <a:r>
              <a:rPr lang="en-US" sz="1800" b="1" dirty="0"/>
              <a:t>Executive summary: automotive SDV </a:t>
            </a:r>
            <a:r>
              <a:rPr lang="en-US" sz="1600" b="1" dirty="0"/>
              <a:t>(</a:t>
            </a:r>
            <a:r>
              <a:rPr lang="en-US" sz="1400" b="1" dirty="0"/>
              <a:t>software defined vehicle</a:t>
            </a:r>
            <a:r>
              <a:rPr lang="en-US" sz="1600" b="1" dirty="0"/>
              <a:t>)</a:t>
            </a:r>
            <a:r>
              <a:rPr lang="en-US" sz="1800" b="1" dirty="0"/>
              <a:t> talent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946A1-19FE-09AD-8419-5CB7336063C9}"/>
              </a:ext>
            </a:extLst>
          </p:cNvPr>
          <p:cNvSpPr txBox="1"/>
          <p:nvPr/>
        </p:nvSpPr>
        <p:spPr>
          <a:xfrm>
            <a:off x="296695" y="840628"/>
            <a:ext cx="8536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sz="1200" dirty="0"/>
              <a:t>Securing top software talent is vital for our Software-Defined Vehicle (SDV) strategy. Analysis reveals five key insights across three key dimensions: </a:t>
            </a:r>
            <a:r>
              <a:rPr lang="en-US" sz="1200" b="1" dirty="0"/>
              <a:t>Hiring, Attrition</a:t>
            </a:r>
            <a:r>
              <a:rPr lang="en-US" sz="1200" dirty="0"/>
              <a:t> and </a:t>
            </a:r>
            <a:r>
              <a:rPr lang="en-US" sz="1200" b="1" dirty="0"/>
              <a:t>Skills</a:t>
            </a:r>
            <a:r>
              <a:rPr lang="en-US" sz="1200" dirty="0"/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47751F-B381-A584-FCE7-24F64FD451DD}"/>
              </a:ext>
            </a:extLst>
          </p:cNvPr>
          <p:cNvGrpSpPr/>
          <p:nvPr/>
        </p:nvGrpSpPr>
        <p:grpSpPr>
          <a:xfrm>
            <a:off x="363935" y="1542651"/>
            <a:ext cx="8288100" cy="657873"/>
            <a:chOff x="363935" y="1542651"/>
            <a:chExt cx="8288100" cy="6578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F5E6621-DE2E-1021-22D1-F68663816B91}"/>
                </a:ext>
              </a:extLst>
            </p:cNvPr>
            <p:cNvSpPr/>
            <p:nvPr/>
          </p:nvSpPr>
          <p:spPr>
            <a:xfrm>
              <a:off x="363935" y="1549668"/>
              <a:ext cx="1824991" cy="62876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700" b="1" dirty="0">
                  <a:solidFill>
                    <a:schemeClr val="tx1"/>
                  </a:solidFill>
                </a:rPr>
                <a:t>Hiring</a:t>
              </a:r>
              <a:endParaRPr lang="en-US" sz="27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5CE24AC-F89A-955C-5598-1986A16AC522}"/>
                </a:ext>
              </a:extLst>
            </p:cNvPr>
            <p:cNvGrpSpPr/>
            <p:nvPr/>
          </p:nvGrpSpPr>
          <p:grpSpPr>
            <a:xfrm>
              <a:off x="2403417" y="1542651"/>
              <a:ext cx="6248618" cy="657873"/>
              <a:chOff x="2864939" y="2144811"/>
              <a:chExt cx="4572000" cy="87716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367C57-A2FB-7AAB-BFC2-73F511E7EC7A}"/>
                  </a:ext>
                </a:extLst>
              </p:cNvPr>
              <p:cNvSpPr txBox="1"/>
              <p:nvPr/>
            </p:nvSpPr>
            <p:spPr>
              <a:xfrm>
                <a:off x="2864939" y="2406421"/>
                <a:ext cx="4572000" cy="615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200"/>
                </a:pPr>
                <a:r>
                  <a:rPr lang="en-US" sz="1200" dirty="0"/>
                  <a:t>Hiring Channels: </a:t>
                </a:r>
                <a:r>
                  <a:rPr lang="en-US" sz="1200" b="1" dirty="0"/>
                  <a:t>LinkedIn (40%), Recruiters (27%), Referrals (20%) effective; </a:t>
                </a:r>
                <a:br>
                  <a:rPr lang="en-US" sz="1200" dirty="0"/>
                </a:br>
                <a:r>
                  <a:rPr lang="en-US" sz="1200" b="1" dirty="0"/>
                  <a:t>Career Fairs underperforming</a:t>
                </a:r>
                <a:r>
                  <a:rPr lang="en-US" sz="1200" dirty="0"/>
                  <a:t> post-COVID.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BAB1F6-2B20-52F5-3DA8-1582F7C8B3A5}"/>
                  </a:ext>
                </a:extLst>
              </p:cNvPr>
              <p:cNvSpPr txBox="1"/>
              <p:nvPr/>
            </p:nvSpPr>
            <p:spPr>
              <a:xfrm>
                <a:off x="2864939" y="2144811"/>
                <a:ext cx="4572000" cy="369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Hiring rose steadily to 2022 but </a:t>
                </a:r>
                <a:r>
                  <a:rPr lang="en-US" sz="1200" b="1" dirty="0"/>
                  <a:t>dropped in 2023 due to a hiring freeze</a:t>
                </a:r>
                <a:r>
                  <a:rPr lang="en-US" sz="1200" dirty="0"/>
                  <a:t>.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640788-E3CB-BE87-AF5A-755396691798}"/>
              </a:ext>
            </a:extLst>
          </p:cNvPr>
          <p:cNvGrpSpPr/>
          <p:nvPr/>
        </p:nvGrpSpPr>
        <p:grpSpPr>
          <a:xfrm>
            <a:off x="363935" y="2450075"/>
            <a:ext cx="8122991" cy="700715"/>
            <a:chOff x="363935" y="2397826"/>
            <a:chExt cx="8122991" cy="7007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95CE19-C918-133F-08F6-1749DA456A0D}"/>
                </a:ext>
              </a:extLst>
            </p:cNvPr>
            <p:cNvSpPr/>
            <p:nvPr/>
          </p:nvSpPr>
          <p:spPr>
            <a:xfrm>
              <a:off x="363935" y="2424524"/>
              <a:ext cx="1824991" cy="6291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700" b="1" dirty="0">
                  <a:solidFill>
                    <a:schemeClr val="tx1"/>
                  </a:solidFill>
                </a:rPr>
                <a:t>Attrition</a:t>
              </a:r>
              <a:endParaRPr lang="en-US" sz="27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F6F7E02-185F-B9EA-3536-317B0AA2C8B9}"/>
                </a:ext>
              </a:extLst>
            </p:cNvPr>
            <p:cNvGrpSpPr/>
            <p:nvPr/>
          </p:nvGrpSpPr>
          <p:grpSpPr>
            <a:xfrm>
              <a:off x="2403417" y="2397826"/>
              <a:ext cx="6083509" cy="700715"/>
              <a:chOff x="2864939" y="3805793"/>
              <a:chExt cx="4572000" cy="934286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3662A4-DD56-84AE-C56A-8D990EF7CF24}"/>
                  </a:ext>
                </a:extLst>
              </p:cNvPr>
              <p:cNvSpPr txBox="1"/>
              <p:nvPr/>
            </p:nvSpPr>
            <p:spPr>
              <a:xfrm>
                <a:off x="2864939" y="3805793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200"/>
                </a:pPr>
                <a:r>
                  <a:rPr lang="en-US" sz="1200" b="1" dirty="0"/>
                  <a:t>Attrition (26%) far exceeds the 15% cap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0B2365-41AE-9B5A-E60D-C94AE7875FDD}"/>
                  </a:ext>
                </a:extLst>
              </p:cNvPr>
              <p:cNvSpPr txBox="1"/>
              <p:nvPr/>
            </p:nvSpPr>
            <p:spPr>
              <a:xfrm>
                <a:off x="2864939" y="4124526"/>
                <a:ext cx="4572000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200"/>
                </a:pPr>
                <a:r>
                  <a:rPr lang="en-US" sz="1200" dirty="0"/>
                  <a:t>Hiring-to-Attrition: Current hiring does not offset attrition. Ramp-up needed to avoid SDV talent gaps.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00630D-C614-2F31-B4A0-484D98D4C9C0}"/>
              </a:ext>
            </a:extLst>
          </p:cNvPr>
          <p:cNvGrpSpPr/>
          <p:nvPr/>
        </p:nvGrpSpPr>
        <p:grpSpPr>
          <a:xfrm>
            <a:off x="363935" y="3400341"/>
            <a:ext cx="8122991" cy="646331"/>
            <a:chOff x="363935" y="3400341"/>
            <a:chExt cx="8122991" cy="64633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50EDBE-3319-659A-43BF-49BA42BCFF3B}"/>
                </a:ext>
              </a:extLst>
            </p:cNvPr>
            <p:cNvSpPr/>
            <p:nvPr/>
          </p:nvSpPr>
          <p:spPr>
            <a:xfrm>
              <a:off x="363935" y="3408957"/>
              <a:ext cx="1824991" cy="6291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700" b="1">
                  <a:solidFill>
                    <a:schemeClr val="tx1"/>
                  </a:solidFill>
                </a:rPr>
                <a:t>Skills</a:t>
              </a:r>
              <a:endParaRPr lang="en-US" sz="27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3EC437-9073-0685-C0A5-3A6395F825B7}"/>
                </a:ext>
              </a:extLst>
            </p:cNvPr>
            <p:cNvSpPr txBox="1"/>
            <p:nvPr/>
          </p:nvSpPr>
          <p:spPr>
            <a:xfrm>
              <a:off x="2403417" y="3400341"/>
              <a:ext cx="608350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/>
                <a:t>65% of employees engaged in upskilling</a:t>
              </a:r>
              <a:r>
                <a:rPr lang="en-US" sz="1200" dirty="0"/>
                <a:t>, but alignment with </a:t>
              </a:r>
              <a:r>
                <a:rPr lang="en-US" sz="1200" b="1" dirty="0"/>
                <a:t>SDV-critical skills remains unclear</a:t>
              </a:r>
              <a:r>
                <a:rPr lang="en-US" sz="1200" dirty="0"/>
                <a:t>.</a:t>
              </a:r>
              <a:br>
                <a:rPr lang="en-US" sz="1200" dirty="0"/>
              </a:br>
              <a:r>
                <a:rPr lang="en-US" sz="1200" dirty="0"/>
                <a:t>A </a:t>
              </a:r>
              <a:r>
                <a:rPr lang="en-US" sz="1200" b="1" dirty="0"/>
                <a:t>skills fit-gap analysis</a:t>
              </a:r>
              <a:r>
                <a:rPr lang="en-US" sz="1200" dirty="0"/>
                <a:t> is recommended to get a better understanding of the current situation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33E6BD-2EA8-F196-7E5C-207D80FAF49A}"/>
              </a:ext>
            </a:extLst>
          </p:cNvPr>
          <p:cNvCxnSpPr>
            <a:cxnSpLocks/>
          </p:cNvCxnSpPr>
          <p:nvPr/>
        </p:nvCxnSpPr>
        <p:spPr>
          <a:xfrm>
            <a:off x="156035" y="4183695"/>
            <a:ext cx="84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31E9293-61D4-A598-6504-9C2F68740250}"/>
              </a:ext>
            </a:extLst>
          </p:cNvPr>
          <p:cNvCxnSpPr>
            <a:cxnSpLocks/>
          </p:cNvCxnSpPr>
          <p:nvPr/>
        </p:nvCxnSpPr>
        <p:spPr>
          <a:xfrm>
            <a:off x="156035" y="3267267"/>
            <a:ext cx="84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8E3AB97-9050-CF4A-3B07-0FA0CAD0652C}"/>
              </a:ext>
            </a:extLst>
          </p:cNvPr>
          <p:cNvCxnSpPr>
            <a:cxnSpLocks/>
          </p:cNvCxnSpPr>
          <p:nvPr/>
        </p:nvCxnSpPr>
        <p:spPr>
          <a:xfrm>
            <a:off x="156035" y="2310257"/>
            <a:ext cx="84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6AEEA-32B4-E813-70DA-B1DE3BCC67C5}"/>
              </a:ext>
            </a:extLst>
          </p:cNvPr>
          <p:cNvSpPr/>
          <p:nvPr/>
        </p:nvSpPr>
        <p:spPr>
          <a:xfrm>
            <a:off x="363935" y="4513419"/>
            <a:ext cx="8288100" cy="276999"/>
          </a:xfrm>
          <a:prstGeom prst="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Recommendations: </a:t>
            </a:r>
            <a:r>
              <a:rPr lang="en-US" sz="1400" dirty="0">
                <a:solidFill>
                  <a:schemeClr val="bg1"/>
                </a:solidFill>
              </a:rPr>
              <a:t>Strengthen retention, plan proactive hiring, optimize channels, align upskilling to gaps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FDF796-998F-0BCB-74E6-45A5E153DC97}"/>
              </a:ext>
            </a:extLst>
          </p:cNvPr>
          <p:cNvCxnSpPr>
            <a:cxnSpLocks/>
          </p:cNvCxnSpPr>
          <p:nvPr/>
        </p:nvCxnSpPr>
        <p:spPr>
          <a:xfrm>
            <a:off x="156035" y="1456552"/>
            <a:ext cx="84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75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1FB3E-2B49-5911-399C-EEBE3E19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169E3-E950-16CB-6DA3-FACEAE5C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00" y="205984"/>
            <a:ext cx="8503468" cy="487937"/>
          </a:xfrm>
        </p:spPr>
        <p:txBody>
          <a:bodyPr>
            <a:noAutofit/>
          </a:bodyPr>
          <a:lstStyle/>
          <a:p>
            <a:r>
              <a:rPr lang="en-US" sz="1800" b="1" dirty="0"/>
              <a:t>Hiring SDV talent has been challenging since COVID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04AF6-7EFC-4E1C-F1FA-8B49AC6184FC}"/>
              </a:ext>
            </a:extLst>
          </p:cNvPr>
          <p:cNvSpPr txBox="1"/>
          <p:nvPr/>
        </p:nvSpPr>
        <p:spPr>
          <a:xfrm>
            <a:off x="295200" y="4682023"/>
            <a:ext cx="8503468" cy="307777"/>
          </a:xfrm>
          <a:prstGeom prst="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Recommendation:</a:t>
            </a:r>
            <a:r>
              <a:rPr lang="en-US" sz="1400" dirty="0">
                <a:solidFill>
                  <a:schemeClr val="bg1"/>
                </a:solidFill>
              </a:rPr>
              <a:t> Shift hiring resources from Career Fairs to strengthen LinkedIn, Recruiters &amp; Referral Program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6407B-04EF-7193-EA62-1AD9F771F22B}"/>
              </a:ext>
            </a:extLst>
          </p:cNvPr>
          <p:cNvGrpSpPr/>
          <p:nvPr/>
        </p:nvGrpSpPr>
        <p:grpSpPr>
          <a:xfrm>
            <a:off x="3641732" y="774077"/>
            <a:ext cx="5015894" cy="1917000"/>
            <a:chOff x="0" y="0"/>
            <a:chExt cx="4469020" cy="2771913"/>
          </a:xfrm>
        </p:grpSpPr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987E7D71-2FE8-FE4A-65B6-3E8D4F28BDE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5259657"/>
                </p:ext>
              </p:extLst>
            </p:nvPr>
          </p:nvGraphicFramePr>
          <p:xfrm>
            <a:off x="0" y="0"/>
            <a:ext cx="4469020" cy="27719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259643-90F3-F3CA-0A64-D3CD42998794}"/>
                </a:ext>
              </a:extLst>
            </p:cNvPr>
            <p:cNvSpPr/>
            <p:nvPr/>
          </p:nvSpPr>
          <p:spPr>
            <a:xfrm>
              <a:off x="2847216" y="555288"/>
              <a:ext cx="880649" cy="447539"/>
            </a:xfrm>
            <a:prstGeom prst="rect">
              <a:avLst/>
            </a:prstGeom>
            <a:noFill/>
            <a:ln w="3175"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ysClr val="windowText" lastClr="000000"/>
                  </a:solidFill>
                </a:rPr>
                <a:t>Hiring-freeze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F0D3E37-6C19-DA8A-92C0-7241765D6B4C}"/>
                </a:ext>
              </a:extLst>
            </p:cNvPr>
            <p:cNvCxnSpPr>
              <a:cxnSpLocks/>
            </p:cNvCxnSpPr>
            <p:nvPr/>
          </p:nvCxnSpPr>
          <p:spPr>
            <a:xfrm>
              <a:off x="2590337" y="779788"/>
              <a:ext cx="256879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1168200-DB4C-1747-C9AF-744C8BB30E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0837" y="1002827"/>
              <a:ext cx="0" cy="105481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4EDA8F8D-46F1-6EEF-3975-3DC4D093B0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620656"/>
              </p:ext>
            </p:extLst>
          </p:nvPr>
        </p:nvGraphicFramePr>
        <p:xfrm>
          <a:off x="3641731" y="2868867"/>
          <a:ext cx="4869973" cy="1789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F84E40-AA5C-B429-2D19-EEB9D309F8B7}"/>
              </a:ext>
            </a:extLst>
          </p:cNvPr>
          <p:cNvSpPr txBox="1"/>
          <p:nvPr/>
        </p:nvSpPr>
        <p:spPr>
          <a:xfrm>
            <a:off x="321514" y="1201694"/>
            <a:ext cx="3006214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/>
              <a:t>Hiring increased steadily from 2018-2022, followed by a </a:t>
            </a:r>
            <a:r>
              <a:rPr lang="en-US" sz="1400" b="1" dirty="0"/>
              <a:t>sharp decline in 2023</a:t>
            </a:r>
            <a:r>
              <a:rPr lang="en-US" sz="1400" dirty="0"/>
              <a:t> due to a hiring freeze caused by a semiconductor shortage in the industry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970AE9-E647-2C48-7FEC-A94F8EE5CA7C}"/>
              </a:ext>
            </a:extLst>
          </p:cNvPr>
          <p:cNvSpPr txBox="1"/>
          <p:nvPr/>
        </p:nvSpPr>
        <p:spPr>
          <a:xfrm>
            <a:off x="321514" y="2554670"/>
            <a:ext cx="300621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/>
            </a:lvl1pPr>
          </a:lstStyle>
          <a:p>
            <a:pPr algn="l"/>
            <a:r>
              <a:rPr lang="en-US" dirty="0"/>
              <a:t>Career Fairs contribute </a:t>
            </a:r>
            <a:r>
              <a:rPr lang="en-US" b="1" dirty="0"/>
              <a:t>only to ~14% </a:t>
            </a:r>
            <a:r>
              <a:rPr lang="en-US" dirty="0"/>
              <a:t>overall and have </a:t>
            </a:r>
            <a:r>
              <a:rPr lang="en-US" b="1" dirty="0"/>
              <a:t>underperformed post-COVID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607C8E-1E00-5B37-283F-388826EAE56A}"/>
              </a:ext>
            </a:extLst>
          </p:cNvPr>
          <p:cNvSpPr txBox="1"/>
          <p:nvPr/>
        </p:nvSpPr>
        <p:spPr>
          <a:xfrm>
            <a:off x="321514" y="3502374"/>
            <a:ext cx="300621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/>
            </a:lvl1pPr>
          </a:lstStyle>
          <a:p>
            <a:pPr algn="l"/>
            <a:r>
              <a:rPr lang="en-US" dirty="0"/>
              <a:t>LinkedIn drives </a:t>
            </a:r>
            <a:r>
              <a:rPr lang="en-US" b="1" dirty="0"/>
              <a:t>~40% of all hires</a:t>
            </a:r>
            <a:r>
              <a:rPr lang="en-US" dirty="0"/>
              <a:t>, with </a:t>
            </a:r>
            <a:r>
              <a:rPr lang="en-US" b="1" dirty="0"/>
              <a:t>Recruiters</a:t>
            </a:r>
            <a:r>
              <a:rPr lang="en-US" dirty="0"/>
              <a:t> contributing </a:t>
            </a:r>
            <a:r>
              <a:rPr lang="en-US" b="1" dirty="0"/>
              <a:t>~27% </a:t>
            </a:r>
            <a:r>
              <a:rPr lang="en-US" dirty="0"/>
              <a:t>and the </a:t>
            </a:r>
            <a:r>
              <a:rPr lang="en-US" b="1" dirty="0"/>
              <a:t>Referral Program ~20%</a:t>
            </a:r>
          </a:p>
        </p:txBody>
      </p:sp>
    </p:spTree>
    <p:extLst>
      <p:ext uri="{BB962C8B-B14F-4D97-AF65-F5344CB8AC3E}">
        <p14:creationId xmlns:p14="http://schemas.microsoft.com/office/powerpoint/2010/main" val="3213637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025F0-84A4-F601-ADBC-F845FC9BA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11B38F-9672-302A-8817-64477707B654}"/>
              </a:ext>
            </a:extLst>
          </p:cNvPr>
          <p:cNvSpPr txBox="1"/>
          <p:nvPr/>
        </p:nvSpPr>
        <p:spPr>
          <a:xfrm>
            <a:off x="295200" y="3200414"/>
            <a:ext cx="263706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Attrition is highest in </a:t>
            </a:r>
            <a:r>
              <a:rPr lang="en-US" b="1" dirty="0"/>
              <a:t>NA (30%)</a:t>
            </a:r>
            <a:r>
              <a:rPr lang="en-US" dirty="0"/>
              <a:t>, lowest in </a:t>
            </a:r>
            <a:r>
              <a:rPr lang="en-US" b="1" dirty="0"/>
              <a:t>APAC (22%)</a:t>
            </a:r>
            <a:r>
              <a:rPr lang="en-US" dirty="0"/>
              <a:t>, </a:t>
            </a:r>
            <a:br>
              <a:rPr lang="en-US" dirty="0"/>
            </a:br>
            <a:r>
              <a:rPr lang="en-US" b="1" dirty="0"/>
              <a:t>EU (25%)</a:t>
            </a:r>
            <a:r>
              <a:rPr lang="en-US" dirty="0"/>
              <a:t> in between</a:t>
            </a:r>
            <a:endParaRPr lang="en-US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A88092-72A2-35D8-D71D-60533FC7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00" y="205984"/>
            <a:ext cx="8401328" cy="487937"/>
          </a:xfrm>
        </p:spPr>
        <p:txBody>
          <a:bodyPr>
            <a:noAutofit/>
          </a:bodyPr>
          <a:lstStyle/>
          <a:p>
            <a:r>
              <a:rPr lang="en-US" sz="1800" b="1" dirty="0"/>
              <a:t>Rising attrition and shrinking hiring are leading to a shrinking SDV workforce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0CA5C4-95AD-DCB1-BA08-36BEFD96B0A8}"/>
              </a:ext>
            </a:extLst>
          </p:cNvPr>
          <p:cNvSpPr txBox="1"/>
          <p:nvPr/>
        </p:nvSpPr>
        <p:spPr>
          <a:xfrm>
            <a:off x="295200" y="4604833"/>
            <a:ext cx="8401328" cy="276999"/>
          </a:xfrm>
          <a:prstGeom prst="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Recommendation: </a:t>
            </a:r>
            <a:r>
              <a:rPr lang="en-US" b="0" dirty="0"/>
              <a:t>Avoid future hiring freezes and reduce attrition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63EE209-7255-8D56-6E45-2CA9E18A08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7264282"/>
              </p:ext>
            </p:extLst>
          </p:nvPr>
        </p:nvGraphicFramePr>
        <p:xfrm>
          <a:off x="3530165" y="810858"/>
          <a:ext cx="5166363" cy="3579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3A270CC-2FB1-04AD-1FD6-91D730EF0B79}"/>
              </a:ext>
            </a:extLst>
          </p:cNvPr>
          <p:cNvSpPr/>
          <p:nvPr/>
        </p:nvSpPr>
        <p:spPr>
          <a:xfrm>
            <a:off x="295200" y="990344"/>
            <a:ext cx="2637065" cy="9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Attrition stands at </a:t>
            </a:r>
            <a:r>
              <a:rPr lang="en-US" sz="1400" b="1" dirty="0">
                <a:solidFill>
                  <a:schemeClr val="tx1"/>
                </a:solidFill>
              </a:rPr>
              <a:t>26% over 5.5 years </a:t>
            </a:r>
            <a:r>
              <a:rPr lang="en-US" sz="1400" dirty="0">
                <a:solidFill>
                  <a:schemeClr val="tx1"/>
                </a:solidFill>
              </a:rPr>
              <a:t>— </a:t>
            </a:r>
            <a:r>
              <a:rPr lang="en-US" sz="1400" b="1" dirty="0">
                <a:solidFill>
                  <a:schemeClr val="tx1"/>
                </a:solidFill>
              </a:rPr>
              <a:t>well above the 15% company target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A03AD3-7D7A-B425-FAFC-754EB2AFC623}"/>
              </a:ext>
            </a:extLst>
          </p:cNvPr>
          <p:cNvSpPr/>
          <p:nvPr/>
        </p:nvSpPr>
        <p:spPr>
          <a:xfrm>
            <a:off x="295200" y="2068325"/>
            <a:ext cx="2637065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High attrition</a:t>
            </a:r>
            <a:r>
              <a:rPr lang="en-US" sz="1400" dirty="0">
                <a:solidFill>
                  <a:schemeClr val="tx1"/>
                </a:solidFill>
              </a:rPr>
              <a:t> is seen in SDV critical Departments: </a:t>
            </a:r>
            <a:r>
              <a:rPr lang="en-US" sz="1400" b="1" dirty="0">
                <a:solidFill>
                  <a:schemeClr val="tx1"/>
                </a:solidFill>
              </a:rPr>
              <a:t>Embedded Systems, Cloud Engineering, </a:t>
            </a:r>
            <a:r>
              <a:rPr lang="en-US" sz="1400" dirty="0">
                <a:solidFill>
                  <a:schemeClr val="tx1"/>
                </a:solidFill>
              </a:rPr>
              <a:t>and </a:t>
            </a:r>
            <a:r>
              <a:rPr lang="en-US" sz="1400" b="1" dirty="0">
                <a:solidFill>
                  <a:schemeClr val="tx1"/>
                </a:solidFill>
              </a:rPr>
              <a:t>Infotainment</a:t>
            </a:r>
          </a:p>
        </p:txBody>
      </p:sp>
    </p:spTree>
    <p:extLst>
      <p:ext uri="{BB962C8B-B14F-4D97-AF65-F5344CB8AC3E}">
        <p14:creationId xmlns:p14="http://schemas.microsoft.com/office/powerpoint/2010/main" val="203345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D5018-99C6-2FD6-60EE-F5C85AFE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001B8C0-34A9-F4D9-2834-E6F8F5D5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99" y="205984"/>
            <a:ext cx="8706137" cy="487937"/>
          </a:xfrm>
        </p:spPr>
        <p:txBody>
          <a:bodyPr>
            <a:noAutofit/>
          </a:bodyPr>
          <a:lstStyle/>
          <a:p>
            <a:r>
              <a:rPr lang="en-US" sz="1800" b="1" dirty="0"/>
              <a:t>Attrition needs to be addressed to retain crucial SDV Talent in the dimensions of: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DDDBB-F5A8-60F8-004A-0F4292CB47E0}"/>
              </a:ext>
            </a:extLst>
          </p:cNvPr>
          <p:cNvSpPr txBox="1"/>
          <p:nvPr/>
        </p:nvSpPr>
        <p:spPr>
          <a:xfrm>
            <a:off x="295200" y="4019628"/>
            <a:ext cx="8402400" cy="954107"/>
          </a:xfrm>
          <a:prstGeom prst="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Recommendations:</a:t>
            </a:r>
            <a:r>
              <a:rPr lang="en-US" b="0" dirty="0"/>
              <a:t> </a:t>
            </a:r>
            <a:br>
              <a:rPr lang="en-US" b="0" dirty="0"/>
            </a:br>
            <a:r>
              <a:rPr lang="en-US" b="0" dirty="0"/>
              <a:t>1. Shift work arrangements towards hybrid; </a:t>
            </a:r>
            <a:br>
              <a:rPr lang="en-US" b="0" dirty="0"/>
            </a:br>
            <a:r>
              <a:rPr lang="en-US" b="0" dirty="0"/>
              <a:t>2. Adjust work arrangements for relocating employees;</a:t>
            </a:r>
            <a:br>
              <a:rPr lang="en-US" b="0" dirty="0"/>
            </a:br>
            <a:r>
              <a:rPr lang="en-US" b="0" dirty="0"/>
              <a:t>3. Transformation Initiative focusing on how to improve Growth Opportunities and Competitive Pay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5888140D-9826-934A-E8BC-2664BD9EDBC1}"/>
              </a:ext>
            </a:extLst>
          </p:cNvPr>
          <p:cNvGraphicFramePr>
            <a:graphicFrameLocks/>
          </p:cNvGraphicFramePr>
          <p:nvPr/>
        </p:nvGraphicFramePr>
        <p:xfrm>
          <a:off x="4125600" y="83922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119FD25-A160-0C79-3A2B-4E02DED557D4}"/>
              </a:ext>
            </a:extLst>
          </p:cNvPr>
          <p:cNvSpPr/>
          <p:nvPr/>
        </p:nvSpPr>
        <p:spPr>
          <a:xfrm>
            <a:off x="295200" y="840156"/>
            <a:ext cx="352098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Top reasons for attrition: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5072FB-2307-899D-FF4B-42F2133BAD36}"/>
              </a:ext>
            </a:extLst>
          </p:cNvPr>
          <p:cNvGrpSpPr/>
          <p:nvPr/>
        </p:nvGrpSpPr>
        <p:grpSpPr>
          <a:xfrm>
            <a:off x="244952" y="1257668"/>
            <a:ext cx="3571236" cy="523220"/>
            <a:chOff x="244952" y="1257668"/>
            <a:chExt cx="3571236" cy="5232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2DED4C8-6E86-BA99-35F7-ACE32D5013D7}"/>
                </a:ext>
              </a:extLst>
            </p:cNvPr>
            <p:cNvSpPr/>
            <p:nvPr/>
          </p:nvSpPr>
          <p:spPr>
            <a:xfrm>
              <a:off x="721919" y="1356348"/>
              <a:ext cx="3094269" cy="3409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tx1"/>
                  </a:solidFill>
                </a:rPr>
                <a:t>Lack of growth opportunities </a:t>
              </a:r>
              <a:r>
                <a:rPr lang="en-US" sz="1400" b="1" dirty="0">
                  <a:solidFill>
                    <a:schemeClr val="tx1"/>
                  </a:solidFill>
                </a:rPr>
                <a:t>(27%)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FB5E6E-AD4A-A14B-1E12-196D1B69B9BF}"/>
                </a:ext>
              </a:extLst>
            </p:cNvPr>
            <p:cNvSpPr txBox="1"/>
            <p:nvPr/>
          </p:nvSpPr>
          <p:spPr>
            <a:xfrm>
              <a:off x="244952" y="1257668"/>
              <a:ext cx="581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66CC"/>
                  </a:solidFill>
                </a:rPr>
                <a:t>1.</a:t>
              </a:r>
              <a:endParaRPr lang="en-US" sz="1800" dirty="0">
                <a:solidFill>
                  <a:srgbClr val="0066CC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B67CB6-2F5E-215A-A79A-DF4ED7AF04A0}"/>
              </a:ext>
            </a:extLst>
          </p:cNvPr>
          <p:cNvGrpSpPr/>
          <p:nvPr/>
        </p:nvGrpSpPr>
        <p:grpSpPr>
          <a:xfrm>
            <a:off x="244952" y="1956939"/>
            <a:ext cx="3302646" cy="523220"/>
            <a:chOff x="244952" y="1956939"/>
            <a:chExt cx="3302646" cy="52322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6C2565-8D0A-BF76-6294-56657CC21780}"/>
                </a:ext>
              </a:extLst>
            </p:cNvPr>
            <p:cNvSpPr/>
            <p:nvPr/>
          </p:nvSpPr>
          <p:spPr>
            <a:xfrm>
              <a:off x="721920" y="2020481"/>
              <a:ext cx="2825678" cy="3409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tx1"/>
                  </a:solidFill>
                </a:rPr>
                <a:t>Personal reasons </a:t>
              </a:r>
              <a:r>
                <a:rPr lang="en-US" sz="1400" b="1" dirty="0">
                  <a:solidFill>
                    <a:schemeClr val="tx1"/>
                  </a:solidFill>
                </a:rPr>
                <a:t>(23%)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C873C4-58AD-67AC-4618-CE6596747654}"/>
                </a:ext>
              </a:extLst>
            </p:cNvPr>
            <p:cNvSpPr txBox="1"/>
            <p:nvPr/>
          </p:nvSpPr>
          <p:spPr>
            <a:xfrm>
              <a:off x="244952" y="1956939"/>
              <a:ext cx="581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66CC"/>
                  </a:solidFill>
                </a:rPr>
                <a:t>2.</a:t>
              </a:r>
              <a:endParaRPr lang="en-US" sz="1800" dirty="0">
                <a:solidFill>
                  <a:srgbClr val="0066CC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80A2B60-A630-58B9-0E7A-0A51055BEE78}"/>
              </a:ext>
            </a:extLst>
          </p:cNvPr>
          <p:cNvGrpSpPr/>
          <p:nvPr/>
        </p:nvGrpSpPr>
        <p:grpSpPr>
          <a:xfrm>
            <a:off x="244952" y="2656210"/>
            <a:ext cx="3020762" cy="523220"/>
            <a:chOff x="244952" y="2656210"/>
            <a:chExt cx="3020762" cy="5232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BF7236-5346-78B0-38AF-5B03A09A93E7}"/>
                </a:ext>
              </a:extLst>
            </p:cNvPr>
            <p:cNvSpPr/>
            <p:nvPr/>
          </p:nvSpPr>
          <p:spPr>
            <a:xfrm>
              <a:off x="721919" y="2744164"/>
              <a:ext cx="2543795" cy="3409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tx1"/>
                  </a:solidFill>
                </a:rPr>
                <a:t>Better external offers </a:t>
              </a:r>
              <a:r>
                <a:rPr lang="en-US" sz="1400" b="1" dirty="0">
                  <a:solidFill>
                    <a:schemeClr val="tx1"/>
                  </a:solidFill>
                </a:rPr>
                <a:t>(20%)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D916CD-BF59-5EAA-B376-F1C5B5FA74D5}"/>
                </a:ext>
              </a:extLst>
            </p:cNvPr>
            <p:cNvSpPr txBox="1"/>
            <p:nvPr/>
          </p:nvSpPr>
          <p:spPr>
            <a:xfrm>
              <a:off x="244952" y="2656210"/>
              <a:ext cx="581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66CC"/>
                  </a:solidFill>
                </a:rPr>
                <a:t>3.</a:t>
              </a:r>
              <a:endParaRPr lang="en-US" sz="1800" dirty="0">
                <a:solidFill>
                  <a:srgbClr val="0066CC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E9F1718-D837-BA58-C7C3-77E65E09CA8F}"/>
              </a:ext>
            </a:extLst>
          </p:cNvPr>
          <p:cNvGrpSpPr/>
          <p:nvPr/>
        </p:nvGrpSpPr>
        <p:grpSpPr>
          <a:xfrm>
            <a:off x="244952" y="3355482"/>
            <a:ext cx="1961982" cy="523220"/>
            <a:chOff x="244952" y="3355482"/>
            <a:chExt cx="1961982" cy="5232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EBCC9AD-156D-9694-7700-9CA671462630}"/>
                </a:ext>
              </a:extLst>
            </p:cNvPr>
            <p:cNvSpPr/>
            <p:nvPr/>
          </p:nvSpPr>
          <p:spPr>
            <a:xfrm>
              <a:off x="721921" y="3449801"/>
              <a:ext cx="1485013" cy="3409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tx1"/>
                  </a:solidFill>
                </a:rPr>
                <a:t>Relocation </a:t>
              </a:r>
              <a:r>
                <a:rPr lang="en-US" sz="1400" b="1" dirty="0">
                  <a:solidFill>
                    <a:schemeClr val="tx1"/>
                  </a:solidFill>
                </a:rPr>
                <a:t>(13%)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20C200-0F2D-2429-6C4E-5677729769BB}"/>
                </a:ext>
              </a:extLst>
            </p:cNvPr>
            <p:cNvSpPr txBox="1"/>
            <p:nvPr/>
          </p:nvSpPr>
          <p:spPr>
            <a:xfrm>
              <a:off x="244952" y="3355482"/>
              <a:ext cx="581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0066CC"/>
                  </a:solidFill>
                </a:rPr>
                <a:t>4.</a:t>
              </a:r>
              <a:endParaRPr lang="en-US" sz="1800" dirty="0">
                <a:solidFill>
                  <a:srgbClr val="0066CC"/>
                </a:solidFill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F37AB002-E071-D752-5065-87468783A73C}"/>
              </a:ext>
            </a:extLst>
          </p:cNvPr>
          <p:cNvSpPr/>
          <p:nvPr/>
        </p:nvSpPr>
        <p:spPr>
          <a:xfrm>
            <a:off x="4648200" y="3557250"/>
            <a:ext cx="4049400" cy="389107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&gt;50%</a:t>
            </a:r>
            <a:r>
              <a:rPr lang="en-US" sz="1200" dirty="0"/>
              <a:t> of Attrition </a:t>
            </a:r>
            <a:r>
              <a:rPr lang="en-US" sz="1200" dirty="0" err="1"/>
              <a:t>occured</a:t>
            </a:r>
            <a:r>
              <a:rPr lang="en-US" sz="1200" dirty="0"/>
              <a:t> in an </a:t>
            </a:r>
            <a:r>
              <a:rPr lang="en-US" sz="1200" b="1" dirty="0"/>
              <a:t>onsite work arrangement </a:t>
            </a:r>
            <a:br>
              <a:rPr lang="en-US" sz="1200" dirty="0"/>
            </a:br>
            <a:r>
              <a:rPr lang="en-US" sz="1200" dirty="0"/>
              <a:t>followed by </a:t>
            </a:r>
            <a:r>
              <a:rPr lang="en-US" sz="1200" b="1" dirty="0"/>
              <a:t>remote (40) </a:t>
            </a:r>
            <a:r>
              <a:rPr lang="en-US" sz="1200" dirty="0"/>
              <a:t>and </a:t>
            </a:r>
            <a:r>
              <a:rPr lang="en-US" sz="1200" b="1" dirty="0"/>
              <a:t>hybrid (25)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B7CAE01-329A-0E0A-966C-9AAE084B95C3}"/>
              </a:ext>
            </a:extLst>
          </p:cNvPr>
          <p:cNvCxnSpPr>
            <a:cxnSpLocks/>
          </p:cNvCxnSpPr>
          <p:nvPr/>
        </p:nvCxnSpPr>
        <p:spPr>
          <a:xfrm>
            <a:off x="4267200" y="830580"/>
            <a:ext cx="0" cy="30099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77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5074A6-FF71-1B0F-A4E5-870F98D997B1}"/>
              </a:ext>
            </a:extLst>
          </p:cNvPr>
          <p:cNvSpPr txBox="1">
            <a:spLocks/>
          </p:cNvSpPr>
          <p:nvPr/>
        </p:nvSpPr>
        <p:spPr>
          <a:xfrm>
            <a:off x="295200" y="205984"/>
            <a:ext cx="8525666" cy="487937"/>
          </a:xfrm>
          <a:prstGeom prst="rect">
            <a:avLst/>
          </a:prstGeom>
        </p:spPr>
        <p:txBody>
          <a:bodyPr vert="horz" lIns="68580" tIns="34291" rIns="68580" bIns="34291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Re- &amp; upskilling programs are utilized by the majority; </a:t>
            </a:r>
          </a:p>
          <a:p>
            <a:r>
              <a:rPr lang="en-US" sz="1800" b="1" dirty="0"/>
              <a:t>it remains unclear if trained skills match the gap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3E8682-77BA-3E08-CE08-E46B6C4C0E75}"/>
              </a:ext>
            </a:extLst>
          </p:cNvPr>
          <p:cNvSpPr txBox="1"/>
          <p:nvPr/>
        </p:nvSpPr>
        <p:spPr>
          <a:xfrm>
            <a:off x="467513" y="4488476"/>
            <a:ext cx="8353353" cy="276999"/>
          </a:xfrm>
          <a:prstGeom prst="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Next step: </a:t>
            </a:r>
            <a:r>
              <a:rPr lang="en-US" b="0" dirty="0"/>
              <a:t>A deeper fit-gap analysis of upskilling vs. SDV skills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42361B-34F3-0708-3378-E0FFFFCF9399}"/>
              </a:ext>
            </a:extLst>
          </p:cNvPr>
          <p:cNvSpPr/>
          <p:nvPr/>
        </p:nvSpPr>
        <p:spPr>
          <a:xfrm>
            <a:off x="295198" y="1201879"/>
            <a:ext cx="362854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30</a:t>
            </a:r>
            <a:r>
              <a:rPr lang="en-US" sz="1400" b="1" dirty="0">
                <a:solidFill>
                  <a:schemeClr val="tx1"/>
                </a:solidFill>
              </a:rPr>
              <a:t>%</a:t>
            </a:r>
            <a:r>
              <a:rPr lang="en-US" sz="1400" dirty="0">
                <a:solidFill>
                  <a:schemeClr val="tx1"/>
                </a:solidFill>
              </a:rPr>
              <a:t> of employees have</a:t>
            </a:r>
            <a:r>
              <a:rPr lang="en-US" sz="1400" b="1" dirty="0">
                <a:solidFill>
                  <a:schemeClr val="tx1"/>
                </a:solidFill>
              </a:rPr>
              <a:t> completed</a:t>
            </a:r>
            <a:r>
              <a:rPr lang="en-US" sz="1400" dirty="0">
                <a:solidFill>
                  <a:schemeClr val="tx1"/>
                </a:solidFill>
              </a:rPr>
              <a:t> the upskilling programs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CC9FD8F-FC0B-9E98-7CC1-0D833DB852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2903555"/>
              </p:ext>
            </p:extLst>
          </p:nvPr>
        </p:nvGraphicFramePr>
        <p:xfrm>
          <a:off x="3923740" y="1201879"/>
          <a:ext cx="4575994" cy="2772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0F1971A-9084-7F89-3DF4-728039C2145F}"/>
              </a:ext>
            </a:extLst>
          </p:cNvPr>
          <p:cNvSpPr/>
          <p:nvPr/>
        </p:nvSpPr>
        <p:spPr>
          <a:xfrm>
            <a:off x="295200" y="2024616"/>
            <a:ext cx="362854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35</a:t>
            </a:r>
            <a:r>
              <a:rPr lang="en-US" sz="1400" b="1" dirty="0">
                <a:solidFill>
                  <a:schemeClr val="tx1"/>
                </a:solidFill>
              </a:rPr>
              <a:t>%</a:t>
            </a:r>
            <a:r>
              <a:rPr lang="en-US" sz="1400" dirty="0">
                <a:solidFill>
                  <a:schemeClr val="tx1"/>
                </a:solidFill>
              </a:rPr>
              <a:t> of employees are </a:t>
            </a:r>
            <a:r>
              <a:rPr lang="en-US" sz="1400" b="1" dirty="0">
                <a:solidFill>
                  <a:schemeClr val="tx1"/>
                </a:solidFill>
              </a:rPr>
              <a:t>in progress </a:t>
            </a:r>
            <a:r>
              <a:rPr lang="en-US" sz="1400" dirty="0">
                <a:solidFill>
                  <a:schemeClr val="tx1"/>
                </a:solidFill>
              </a:rPr>
              <a:t>of upskilling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0A04CC-DCCD-745E-8711-0C682079FA9B}"/>
              </a:ext>
            </a:extLst>
          </p:cNvPr>
          <p:cNvSpPr/>
          <p:nvPr/>
        </p:nvSpPr>
        <p:spPr>
          <a:xfrm>
            <a:off x="295199" y="2631910"/>
            <a:ext cx="362854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35</a:t>
            </a:r>
            <a:r>
              <a:rPr lang="en-US" sz="1400" b="1" dirty="0">
                <a:solidFill>
                  <a:schemeClr val="tx1"/>
                </a:solidFill>
              </a:rPr>
              <a:t>%</a:t>
            </a:r>
            <a:r>
              <a:rPr lang="en-US" sz="1400" dirty="0">
                <a:solidFill>
                  <a:schemeClr val="tx1"/>
                </a:solidFill>
              </a:rPr>
              <a:t> of employees have </a:t>
            </a:r>
            <a:r>
              <a:rPr lang="en-US" sz="1400" b="1" dirty="0">
                <a:solidFill>
                  <a:schemeClr val="tx1"/>
                </a:solidFill>
              </a:rPr>
              <a:t>not started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C0E333-E383-E1D3-813D-1A233BBB97BF}"/>
              </a:ext>
            </a:extLst>
          </p:cNvPr>
          <p:cNvSpPr/>
          <p:nvPr/>
        </p:nvSpPr>
        <p:spPr>
          <a:xfrm>
            <a:off x="295200" y="3239203"/>
            <a:ext cx="362854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/>
              <a:t>Current upskill tracking </a:t>
            </a:r>
            <a:r>
              <a:rPr lang="en-US" sz="1400" b="1" dirty="0"/>
              <a:t>does not confirm</a:t>
            </a:r>
            <a:r>
              <a:rPr lang="en-US" sz="1400" dirty="0"/>
              <a:t> if newly acquired </a:t>
            </a:r>
            <a:r>
              <a:rPr lang="en-US" sz="1400" b="1" dirty="0"/>
              <a:t>skills match SDV-critical needs</a:t>
            </a:r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01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57F6E-9619-78F9-E58C-BF8D760C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963B3D-F78C-057B-D98E-ADEB16E8F590}"/>
              </a:ext>
            </a:extLst>
          </p:cNvPr>
          <p:cNvSpPr txBox="1">
            <a:spLocks/>
          </p:cNvSpPr>
          <p:nvPr/>
        </p:nvSpPr>
        <p:spPr>
          <a:xfrm>
            <a:off x="295200" y="205984"/>
            <a:ext cx="8525666" cy="487937"/>
          </a:xfrm>
          <a:prstGeom prst="rect">
            <a:avLst/>
          </a:prstGeom>
        </p:spPr>
        <p:txBody>
          <a:bodyPr vert="horz" lIns="68580" tIns="34291" rIns="68580" bIns="34291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Appendix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4BD5D-0702-E226-ECC3-77958C78BB1B}"/>
              </a:ext>
            </a:extLst>
          </p:cNvPr>
          <p:cNvSpPr txBox="1"/>
          <p:nvPr/>
        </p:nvSpPr>
        <p:spPr>
          <a:xfrm>
            <a:off x="296695" y="840628"/>
            <a:ext cx="85360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sz="1200" dirty="0"/>
              <a:t>For details on the dataset and analysis process please download and open: </a:t>
            </a:r>
            <a:r>
              <a:rPr lang="en-US" sz="1200" dirty="0">
                <a:hlinkClick r:id="rId2"/>
              </a:rPr>
              <a:t>https://github.com/sven-friedel/workforce-insights-project/blob/main/Automotive_HR_Software_Talent_Dataset_v3_Enhanced.xlsx</a:t>
            </a:r>
            <a:endParaRPr lang="en-US" sz="1200" dirty="0"/>
          </a:p>
          <a:p>
            <a:pPr>
              <a:defRPr sz="1200"/>
            </a:pPr>
            <a:endParaRPr lang="en-US" sz="1200" dirty="0"/>
          </a:p>
          <a:p>
            <a:pPr>
              <a:defRPr sz="1200"/>
            </a:pPr>
            <a:r>
              <a:rPr lang="en-US" sz="1200" dirty="0"/>
              <a:t>For any inquires please reach out to: </a:t>
            </a:r>
            <a:r>
              <a:rPr lang="en-US" sz="1200" dirty="0">
                <a:hlinkClick r:id="rId3"/>
              </a:rPr>
              <a:t>svenfriedel@outlook.com</a:t>
            </a:r>
            <a:r>
              <a:rPr lang="en-US" sz="1200" dirty="0"/>
              <a:t> </a:t>
            </a:r>
          </a:p>
          <a:p>
            <a:pPr>
              <a:defRPr sz="1200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24605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580</Words>
  <Application>Microsoft Office PowerPoint</Application>
  <PresentationFormat>On-screen Show (16:9)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Executive summary: automotive SDV (software defined vehicle) talent</vt:lpstr>
      <vt:lpstr>Hiring SDV talent has been challenging since COVID</vt:lpstr>
      <vt:lpstr>Rising attrition and shrinking hiring are leading to a shrinking SDV workforce</vt:lpstr>
      <vt:lpstr>Attrition needs to be addressed to retain crucial SDV Talent in the dimensions of: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Sven Friedel</cp:lastModifiedBy>
  <cp:revision>323</cp:revision>
  <dcterms:created xsi:type="dcterms:W3CDTF">2013-01-27T09:14:16Z</dcterms:created>
  <dcterms:modified xsi:type="dcterms:W3CDTF">2025-12-10T02:27:38Z</dcterms:modified>
  <cp:category/>
</cp:coreProperties>
</file>